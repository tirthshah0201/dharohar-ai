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9C2B"/>
                </a:solidFill>
              </a:defRPr>
            </a:pPr>
            <a:r>
              <a:t>ASTROVA connects heritage dimensions into one exploration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555"/>
                </a:solidFill>
              </a:defRPr>
            </a:pPr>
            <a:r>
              <a:t>FRAGMENTED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822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FF55"/>
                </a:solidFill>
              </a:defRPr>
            </a:pPr>
            <a:r>
              <a:t>CONNECTED HERITAGE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Heritage data spread across government portals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097280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Structured database of heritage entities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1188720"/>
            <a:ext cx="0" cy="22860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5669280" y="1325880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19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Difficult to explore heritage location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19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Interactive Leaflet/OpenStreetMap exploration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1737360"/>
            <a:ext cx="0" cy="22860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5669280" y="1874519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No way to see how places, periods, people connect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194560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Connected relationships across heritage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2286000"/>
            <a:ext cx="0" cy="22860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5669280" y="2423160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No unified search, filtering, or personalization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743200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Full-text search, collections, and timeline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15000" y="2834640"/>
            <a:ext cx="0" cy="22860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5669280" y="2971800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91839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Information mostly in English; limited accessibility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291839"/>
            <a:ext cx="530352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Multilingual design toward broader support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15000" y="3383279"/>
            <a:ext cx="0" cy="22860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5669280" y="3520439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BB"/>
                </a:solidFill>
              </a:defRPr>
            </a:pPr>
            <a:r>
              <a:t>KEY DIMENSIONS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Places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People &amp; Culture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Media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Relationships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Collections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4480560"/>
            <a:ext cx="1188720" cy="365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69C2B"/>
                </a:solidFill>
              </a:defRPr>
            </a:pPr>
            <a:r>
              <a:t>Exploration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FRAGMENTED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029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9C2B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5FF55"/>
                </a:solidFill>
              </a:defRPr>
            </a:pPr>
            <a:r>
              <a:t>CONNECTED HERITAGE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5029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9C2B"/>
                </a:solidFill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9C2B"/>
                </a:solidFill>
              </a:defRPr>
            </a:pPr>
            <a:r>
              <a:t>ONE EXPLORATION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9C2B"/>
                </a:solidFill>
              </a:defRPr>
            </a:pPr>
            <a:r>
              <a:t>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11480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/ ADMIN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72200" y="1783080"/>
            <a:ext cx="0" cy="91439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10800000">
            <a:off x="6126480" y="1783079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920240"/>
            <a:ext cx="411480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NEXT.JS FRONTEND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72200" y="2331720"/>
            <a:ext cx="0" cy="9144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126480" y="2331720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2468880"/>
            <a:ext cx="411480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API PROXY / 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72200" y="2880360"/>
            <a:ext cx="0" cy="9144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126480" y="2880360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3017520"/>
            <a:ext cx="411480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EXPRESS.JS BACKEND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3429000"/>
            <a:ext cx="0" cy="9144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126480" y="3429000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566160"/>
            <a:ext cx="411480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SERVICES / LOGIC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3977639"/>
            <a:ext cx="0" cy="91440"/>
          </a:xfrm>
          <a:prstGeom prst="line">
            <a:avLst/>
          </a:prstGeom>
          <a:ln w="25400">
            <a:solidFill>
              <a:srgbClr val="E69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126480" y="3977639"/>
            <a:ext cx="91440" cy="137160"/>
          </a:xfrm>
          <a:prstGeom prst="triangle">
            <a:avLst/>
          </a:prstGeom>
          <a:solidFill>
            <a:srgbClr val="E69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4114800"/>
            <a:ext cx="411480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NEON 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Leaflet.js</a:t>
            </a:r>
            <a:br/>
            <a:r>
              <a:t>OpenStreetMap</a:t>
            </a:r>
            <a:br/>
            <a:r>
              <a:t>54 Locations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0" y="2743200"/>
            <a:ext cx="0" cy="457200"/>
          </a:xfrm>
          <a:prstGeom prst="line">
            <a:avLst/>
          </a:prstGeom>
          <a:ln w="254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3611880" y="3108960"/>
            <a:ext cx="91440" cy="137160"/>
          </a:xfrm>
          <a:prstGeom prst="triangle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1371600"/>
            <a:ext cx="3200400" cy="22860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• JWT + HttpOnly Cookie</a:t>
            </a:r>
            <a:br/>
            <a:r>
              <a:t>• RBAC</a:t>
            </a:r>
            <a:br/>
            <a:r>
              <a:t>• API Key</a:t>
            </a:r>
            <a:br/>
            <a:r>
              <a:t>• Rate Limiting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840480"/>
            <a:ext cx="32004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DISCOVERY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Search, Filtering</a:t>
            </a:r>
            <a:br/>
            <a:r>
              <a:t>Timeline, Collections</a:t>
            </a:r>
            <a:br/>
            <a:r>
              <a:t>Favorites, Relationships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32004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</a:defRPr>
            </a:pPr>
            <a:r>
              <a:t>Multilingual Chatbot</a:t>
            </a:r>
            <a:br/>
            <a:r>
              <a:t>UNDER CONSTRUCTION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BB"/>
                </a:solidFill>
              </a:defRPr>
            </a:pPr>
            <a:r>
              <a:t>TECHNOLOGY STACK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Next.js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TypeScript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Tailwind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Express.js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Node.js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Neon PostgreSQL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5852160"/>
            <a:ext cx="118872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Leaflet.js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9C2B"/>
                </a:solidFill>
              </a:defRPr>
            </a:pPr>
            <a:r>
              <a:t>FEASIBILITY &amp; VIABILITY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9C2B"/>
                </a:solidFill>
              </a:defRPr>
            </a:pPr>
            <a:r>
              <a:t>FEASIBLE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Existing and open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Trusted/public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Working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Modular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Reasonable maintenance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5943600" cy="3200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9C2B"/>
                </a:solidFill>
              </a:defRPr>
            </a:pPr>
            <a:r>
              <a:t>VIABLE TOMORROW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More heritage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More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More 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Tourism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Institutional 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BB"/>
                </a:solidFill>
              </a:defRPr>
            </a:pPr>
            <a:r>
              <a:t>RISK → MITIGATION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21031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9C2B"/>
                </a:solidFill>
              </a:defRPr>
            </a:pPr>
            <a:r>
              <a:t>DATA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Trusted sources + verification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5029200"/>
            <a:ext cx="21031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9C2B"/>
                </a:solidFill>
              </a:defRPr>
            </a:pPr>
            <a:r>
              <a:t>DATA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Structured schema + updates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5029200"/>
            <a:ext cx="21031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9C2B"/>
                </a:solidFill>
              </a:defRPr>
            </a:pPr>
            <a: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Optimized queries + pagination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5029200"/>
            <a:ext cx="21031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9C2B"/>
                </a:solidFill>
              </a:defRPr>
            </a:pPr>
            <a:r>
              <a:t>AI / MULTILINGUAL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Source-grounded responses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5029200"/>
            <a:ext cx="2103120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9C2B"/>
                </a:solidFill>
              </a:defRPr>
            </a:pPr>
            <a:r>
              <a:t>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Auth + Authorization + APIs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9C2B"/>
                </a:solidFill>
              </a:defRPr>
            </a:pPr>
            <a:r>
              <a:t>Feasible to build today. Viable to grow tomorrow.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9C2B"/>
                </a:solidFill>
              </a:defRPr>
            </a:pPr>
            <a:r>
              <a:t>IMPACT &amp;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4747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EDUCATIONAL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Interactive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097280"/>
            <a:ext cx="34747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CULTURAL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Awareness +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097280"/>
            <a:ext cx="34747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TOURISM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Context-rich discovery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34747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SOCIAL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Visibility for communities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468880"/>
            <a:ext cx="34747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Structured heritage knowledge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468880"/>
            <a:ext cx="347472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9C2B"/>
                </a:solidFill>
              </a:defRPr>
            </a:pPr>
            <a:r>
              <a:t>LONG-TERM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Preservation + scalable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BB"/>
                </a:solidFill>
              </a:defRPr>
            </a:pPr>
            <a:r>
              <a:t>WHO BENEFITS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173736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Students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4480560"/>
            <a:ext cx="173736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Researchers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480560"/>
            <a:ext cx="173736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Tourists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480560"/>
            <a:ext cx="173736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Heritage Enthusiasts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480560"/>
            <a:ext cx="173736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Local Communities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4480560"/>
            <a:ext cx="1737360" cy="365760"/>
          </a:xfrm>
          <a:prstGeom prst="rect">
            <a:avLst/>
          </a:prstGeom>
          <a:solidFill>
            <a:srgbClr val="E69C2B"/>
          </a:solidFill>
          <a:ln w="12700">
            <a:solidFill>
              <a:srgbClr val="E69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Govt &amp; Institutions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BB"/>
                </a:solidFill>
              </a:defRPr>
            </a:pPr>
            <a:r>
              <a:t>KEY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9C2B"/>
                </a:solidFill>
              </a:defRPr>
            </a:pPr>
            <a:r>
              <a:t>Easy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Search, filter, explore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69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9C2B"/>
                </a:solidFill>
              </a:defRPr>
            </a:pPr>
            <a:r>
              <a:t>Connected 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Relationships, 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669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9C2B"/>
                </a:solidFill>
              </a:defRPr>
            </a:pPr>
            <a:r>
              <a:t>Geographic Exploration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Interactive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669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9C2B"/>
                </a:solidFill>
              </a:defRPr>
            </a:pPr>
            <a:r>
              <a:t>Personalized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Favorites, collections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669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9C2B"/>
                </a:solidFill>
              </a:defRPr>
            </a:pPr>
            <a:r>
              <a:t>Reliable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Trusted sources, admin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9C2B"/>
                </a:solidFill>
              </a:defRPr>
            </a:pPr>
            <a:r>
              <a:t>RESEARCH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9C2B"/>
                </a:solidFill>
              </a:defRPr>
            </a:pPr>
            <a:r>
              <a:t>RESEARCH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Heritage info is distributed across multiple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Structured systems improve organization.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GIS strengthens geographic exploration.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Digital platforms improve discovery and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• Multilingual access broadens accessibility.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9C2B"/>
                </a:solidFill>
              </a:defRPr>
            </a:pPr>
            <a:r>
              <a:t>OFFICIAL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Indian Culture — Ministry of 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https://www.indianculture.gov.in/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Incredible India — Ministry of Tourism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https://www.incredibleindia.gov.in/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UNESCO ICH — Intangible Cultural Heritage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https://www.ich.unesco.org/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National Archives — Govt of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https://www.nationalarchives.nic.in/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</a:defRPr>
            </a:pPr>
            <a:r>
              <a:t>Source: Astrova project database package,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9C2B"/>
                </a:solidFill>
              </a:defRPr>
            </a:pPr>
            <a:r>
              <a:t>WORKING PROTOTYPE &amp; FUTURE ROADMAP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029200" cy="34569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9C2B"/>
                </a:solidFill>
              </a:defRPr>
            </a:pPr>
            <a:r>
              <a:t>IMPLEMENTED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Heritage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783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Search &amp;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Interactive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Connected heritage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743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Media &amp;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Collections / favorites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3832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Admin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023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✓ Secure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555"/>
                </a:solidFill>
              </a:defRPr>
            </a:pPr>
            <a:r>
              <a:t>AI / CHATBOT: UNDER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9C2B"/>
                </a:solidFill>
              </a:defRPr>
            </a:pPr>
            <a: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01 Expand data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02 More Indian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03 Community contributions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04 Mobile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05 Education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06 Advanced AI experiences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07 Global outreach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9C2B"/>
                </a:solidFill>
              </a:defRPr>
            </a:pPr>
            <a:r>
              <a:t>Preserve today. Inspire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