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D2B1F"/>
                </a:solidFill>
                <a:latin typeface="Playfair Display"/>
              </a:rPr>
              <a:t>The Challenge &amp; Our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7A6B"/>
                </a:solidFill>
                <a:latin typeface="Inter"/>
              </a:rPr>
              <a:t>India's heritage is fragmented. Astrova connects the dimensions into one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3B2A"/>
                </a:solidFill>
                <a:latin typeface="Inter"/>
              </a:rP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45720" cy="960120"/>
          </a:xfrm>
          <a:prstGeom prst="rect">
            <a:avLst/>
          </a:prstGeom>
          <a:solidFill>
            <a:srgbClr val="B8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190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3B2A"/>
                </a:solidFill>
                <a:latin typeface="Inter"/>
              </a:rPr>
              <a:t>Scattered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Heritage data spread across government sites, wikis, and unstructured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715768"/>
            <a:ext cx="45720" cy="960120"/>
          </a:xfrm>
          <a:prstGeom prst="rect">
            <a:avLst/>
          </a:prstGeom>
          <a:solidFill>
            <a:srgbClr val="B8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3B2A"/>
                </a:solidFill>
                <a:latin typeface="Inter"/>
              </a:rPr>
              <a:t>No Geographic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0837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Difficult to explore heritage locations and understand regional connections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85616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85616"/>
            <a:ext cx="45720" cy="960120"/>
          </a:xfrm>
          <a:prstGeom prst="rect">
            <a:avLst/>
          </a:prstGeom>
          <a:solidFill>
            <a:srgbClr val="B8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3B2A"/>
                </a:solidFill>
                <a:latin typeface="Inter"/>
              </a:rPr>
              <a:t>Missing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7822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No way to see how places, periods, people, and traditions are interconnected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55464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855464"/>
            <a:ext cx="45720" cy="960120"/>
          </a:xfrm>
          <a:prstGeom prst="rect">
            <a:avLst/>
          </a:prstGeom>
          <a:solidFill>
            <a:srgbClr val="B8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286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3B2A"/>
                </a:solidFill>
                <a:latin typeface="Inter"/>
              </a:rPr>
              <a:t>Hard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4807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No unified search, filtering, or personalized exploration for Indian heritage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925312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925312"/>
            <a:ext cx="45720" cy="960120"/>
          </a:xfrm>
          <a:prstGeom prst="rect">
            <a:avLst/>
          </a:prstGeom>
          <a:solidFill>
            <a:srgbClr val="B8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9984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3B2A"/>
                </a:solidFill>
                <a:latin typeface="Inter"/>
              </a:rPr>
              <a:t>Language Barriers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217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Information mostly in English; limited multilingual access for diverse audiences</a:t>
            </a:r>
          </a:p>
        </p:txBody>
      </p:sp>
      <p:sp>
        <p:nvSpPr>
          <p:cNvPr id="26" name="Chevron 25"/>
          <p:cNvSpPr/>
          <p:nvPr/>
        </p:nvSpPr>
        <p:spPr>
          <a:xfrm>
            <a:off x="3520440" y="2926080"/>
            <a:ext cx="731520" cy="548640"/>
          </a:xfrm>
          <a:prstGeom prst="chevron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45A3C"/>
                </a:solidFill>
                <a:latin typeface="Inter"/>
              </a:rPr>
              <a:t>ASTROVA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7A5A"/>
                </a:solidFill>
                <a:latin typeface="Inter"/>
              </a:rPr>
              <a:t>ASTROVA'S SOLUTION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1645920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60" y="1645920"/>
            <a:ext cx="45720" cy="960120"/>
          </a:xfrm>
          <a:prstGeom prst="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17190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7A5A"/>
                </a:solidFill>
                <a:latin typeface="Inter"/>
              </a:rPr>
              <a:t>One Heritage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19385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Structured database of heritage entities with metadata, media, sources, and relationships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2715768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60" y="2715768"/>
            <a:ext cx="45720" cy="960120"/>
          </a:xfrm>
          <a:prstGeom prst="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2788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7A5A"/>
                </a:solidFill>
                <a:latin typeface="Inter"/>
              </a:rPr>
              <a:t>Map-Based Discovery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008376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Interactive Leaflet/OpenStreetMap exploration with heritage markers and location context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3785616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80560" y="3785616"/>
            <a:ext cx="45720" cy="960120"/>
          </a:xfrm>
          <a:prstGeom prst="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7A5A"/>
                </a:solidFill>
                <a:latin typeface="Inter"/>
              </a:rPr>
              <a:t>Connected Knowledge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4078224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Heritage linked to places, periods, people, media, sources — visible as relationships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4855464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60" y="4855464"/>
            <a:ext cx="45720" cy="960120"/>
          </a:xfrm>
          <a:prstGeom prst="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492861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7A5A"/>
                </a:solidFill>
                <a:latin typeface="Inter"/>
              </a:rPr>
              <a:t>Search &amp; Filtering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514807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Full-text search, suggestions, state/category filters for efficient discovery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80560" y="5925312"/>
            <a:ext cx="2560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80560" y="5925312"/>
            <a:ext cx="45720" cy="960120"/>
          </a:xfrm>
          <a:prstGeom prst="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59984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7A5A"/>
                </a:solidFill>
                <a:latin typeface="Inter"/>
              </a:rPr>
              <a:t>Personal Exploration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6217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Authenticated favorites, curated collections, timeline view for personalized journeys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1280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5A3C"/>
                </a:solidFill>
                <a:latin typeface="Inter"/>
              </a:rPr>
              <a:t>WHY ASTROVA IS DIFFERENT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60920" y="1645920"/>
            <a:ext cx="4114800" cy="1097280"/>
          </a:xfrm>
          <a:prstGeom prst="roundRect">
            <a:avLst/>
          </a:prstGeom>
          <a:solidFill>
            <a:srgbClr val="FDF8F2"/>
          </a:solidFill>
          <a:ln w="1905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0" y="17373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45A3C"/>
                </a:solidFill>
                <a:latin typeface="Inter"/>
              </a:rPr>
              <a:t>ASTROVA CONNECTS HERITAGE DIMENSIONS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3D2B1F"/>
                </a:solidFill>
                <a:latin typeface="Inter"/>
              </a:rPr>
              <a:t>Places + History + People/Culture + Media + Sources + Relationships + Collections + Personal Exploration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60" y="2880360"/>
            <a:ext cx="868680" cy="256032"/>
          </a:xfrm>
          <a:prstGeom prst="round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Places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58200" y="2880360"/>
            <a:ext cx="86868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History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64040" y="2880360"/>
            <a:ext cx="868680" cy="256032"/>
          </a:xfrm>
          <a:prstGeom prst="round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Culture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69880" y="2880360"/>
            <a:ext cx="868680" cy="256032"/>
          </a:xfrm>
          <a:prstGeom prst="round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Media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52360" y="3200400"/>
            <a:ext cx="868680" cy="256032"/>
          </a:xfrm>
          <a:prstGeom prst="roundRect">
            <a:avLst/>
          </a:prstGeom>
          <a:solidFill>
            <a:srgbClr val="8C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Sources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58200" y="3200400"/>
            <a:ext cx="868680" cy="256032"/>
          </a:xfrm>
          <a:prstGeom prst="round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Relations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64040" y="3200400"/>
            <a:ext cx="868680" cy="25603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Collections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469880" y="3200400"/>
            <a:ext cx="868680" cy="256032"/>
          </a:xfrm>
          <a:prstGeom prst="round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Personal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0920" y="3703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C7A6B"/>
                </a:solidFill>
                <a:latin typeface="Inter"/>
              </a:rPr>
              <a:t>FRAGMENTED  →  CONNECTED</a:t>
            </a:r>
          </a:p>
        </p:txBody>
      </p:sp>
      <p:sp>
        <p:nvSpPr>
          <p:cNvPr id="61" name="Oval 60"/>
          <p:cNvSpPr/>
          <p:nvPr/>
        </p:nvSpPr>
        <p:spPr>
          <a:xfrm>
            <a:off x="7635240" y="4160520"/>
            <a:ext cx="109728" cy="109728"/>
          </a:xfrm>
          <a:prstGeom prst="ellipse">
            <a:avLst/>
          </a:prstGeom>
          <a:solidFill>
            <a:srgbClr val="E8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2440" y="4023360"/>
            <a:ext cx="109728" cy="109728"/>
          </a:xfrm>
          <a:prstGeom prst="ellipse">
            <a:avLst/>
          </a:prstGeom>
          <a:solidFill>
            <a:srgbClr val="E8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58200" y="4206240"/>
            <a:ext cx="109728" cy="109728"/>
          </a:xfrm>
          <a:prstGeom prst="ellipse">
            <a:avLst/>
          </a:prstGeom>
          <a:solidFill>
            <a:srgbClr val="E8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818120" y="4389120"/>
            <a:ext cx="109728" cy="109728"/>
          </a:xfrm>
          <a:prstGeom prst="ellipse">
            <a:avLst/>
          </a:prstGeom>
          <a:solidFill>
            <a:srgbClr val="E8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75320" y="4434840"/>
            <a:ext cx="109728" cy="109728"/>
          </a:xfrm>
          <a:prstGeom prst="ellipse">
            <a:avLst/>
          </a:prstGeom>
          <a:solidFill>
            <a:srgbClr val="E8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543800" y="4480560"/>
            <a:ext cx="109728" cy="109728"/>
          </a:xfrm>
          <a:prstGeom prst="ellipse">
            <a:avLst/>
          </a:prstGeom>
          <a:solidFill>
            <a:srgbClr val="E8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001000" y="4297679"/>
            <a:ext cx="109728" cy="109728"/>
          </a:xfrm>
          <a:prstGeom prst="ellipse">
            <a:avLst/>
          </a:prstGeom>
          <a:solidFill>
            <a:srgbClr val="E8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ight Arrow 67"/>
          <p:cNvSpPr/>
          <p:nvPr/>
        </p:nvSpPr>
        <p:spPr>
          <a:xfrm>
            <a:off x="9006840" y="4160520"/>
            <a:ext cx="548640" cy="228600"/>
          </a:xfrm>
          <a:prstGeom prst="rightArrow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149840" y="4251960"/>
            <a:ext cx="228600" cy="228600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538460" y="4366260"/>
            <a:ext cx="91440" cy="9144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401300" y="4603828"/>
            <a:ext cx="91440" cy="9144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126980" y="4603828"/>
            <a:ext cx="91440" cy="9144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89820" y="4366260"/>
            <a:ext cx="91440" cy="9144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126980" y="4128691"/>
            <a:ext cx="91440" cy="9144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401300" y="4128691"/>
            <a:ext cx="91440" cy="9144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7A6B"/>
                </a:solidFill>
                <a:latin typeface="Inter"/>
              </a:rPr>
              <a:t>1 / 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ASTROVA  ·  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D2B1F"/>
                </a:solidFill>
                <a:latin typeface="Playfair Display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7A6B"/>
                </a:solidFill>
                <a:latin typeface="Inter"/>
              </a:rPr>
              <a:t>Full-stack system: Next.js frontend → API proxy → Express backend → Neon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234440"/>
            <a:ext cx="2926080" cy="502920"/>
          </a:xfrm>
          <a:prstGeom prst="round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USER /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37360"/>
            <a:ext cx="182880" cy="668901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810512"/>
            <a:ext cx="2926080" cy="502920"/>
          </a:xfrm>
          <a:prstGeom prst="round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NEXT.JS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313432"/>
            <a:ext cx="182880" cy="668901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386584"/>
            <a:ext cx="2926080" cy="50292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API PROXY /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89504"/>
            <a:ext cx="182880" cy="668901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962656"/>
            <a:ext cx="2926080" cy="502920"/>
          </a:xfrm>
          <a:prstGeom prst="round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EXPRESS.JS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65576"/>
            <a:ext cx="182880" cy="668901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538728"/>
            <a:ext cx="2926080" cy="502920"/>
          </a:xfrm>
          <a:prstGeom prst="round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SERVICES /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41648"/>
            <a:ext cx="182880" cy="6689018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114800"/>
            <a:ext cx="2926080" cy="502920"/>
          </a:xfrm>
          <a:prstGeom prst="round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NEON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783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A3C"/>
                </a:solidFill>
                <a:latin typeface="Inter"/>
              </a:rPr>
              <a:t>MAP / LOCATION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05740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3D2B1F"/>
                </a:solidFill>
                <a:latin typeface="Inter"/>
              </a:rPr>
              <a:t>Leaflet.js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C7A6B"/>
                </a:solidFill>
                <a:latin typeface="Inter"/>
              </a:rPr>
              <a:t>OpenStreetMap Tiles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C45A3C"/>
                </a:solidFill>
                <a:latin typeface="Inter"/>
              </a:rPr>
              <a:t>54 Locations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63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3B2A"/>
                </a:solidFill>
                <a:latin typeface="Inter"/>
              </a:rPr>
              <a:t>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337560"/>
            <a:ext cx="1645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JWT + HttpOnly Cookie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Role-Based Access (RBAC)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API Key Protection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CORS Configuration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Rate Limiting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Timing-Safe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783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5A3C"/>
                </a:solidFill>
                <a:latin typeface="Inter"/>
              </a:rPr>
              <a:t>DISCOVERY FEATURES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057400"/>
            <a:ext cx="3474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1031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Full-text Search &amp; Suggestions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State/Category Filtering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Curated Collections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User Favorites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Historical Timeline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D2B1F"/>
                </a:solidFill>
                <a:latin typeface="Inter"/>
              </a:rPr>
              <a:t>• Heritage Relationships (49 connections)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632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96E"/>
                </a:solidFill>
                <a:latin typeface="Inter"/>
              </a:rPr>
              <a:t>AI / CHATBOT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337560"/>
            <a:ext cx="3474720" cy="822960"/>
          </a:xfrm>
          <a:prstGeom prst="roundRect">
            <a:avLst/>
          </a:prstGeom>
          <a:solidFill>
            <a:srgbClr val="FDF8F2"/>
          </a:solidFill>
          <a:ln w="1270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3832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3D2B1F"/>
                </a:solidFill>
                <a:latin typeface="Inter"/>
              </a:rPr>
              <a:t>Multilingual AI Chatbot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C7A6B"/>
                </a:solidFill>
                <a:latin typeface="Inter"/>
              </a:rPr>
              <a:t>Architecture preserved • 107 knowledge 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977640"/>
            <a:ext cx="1463040" cy="22860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Inter"/>
              </a:rPr>
              <a:t>UNDER CONSTRUCTION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12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7A6B"/>
                </a:solidFill>
                <a:latin typeface="Inter"/>
              </a:rPr>
              <a:t>DATA 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9507" y="5486400"/>
            <a:ext cx="15544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D2B1F"/>
                </a:solidFill>
                <a:latin typeface="Inter"/>
              </a:rPr>
              <a:t>COLLECT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43987" y="5532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C7A6B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1147" y="5486400"/>
            <a:ext cx="15544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D2B1F"/>
                </a:solidFill>
                <a:latin typeface="Inter"/>
              </a:rPr>
              <a:t>NORMALIZE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5627" y="5532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C7A6B"/>
                </a:solidFill>
                <a:latin typeface="Inter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72787" y="5486400"/>
            <a:ext cx="15544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D2B1F"/>
                </a:solidFill>
                <a:latin typeface="Inter"/>
              </a:rPr>
              <a:t>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7267" y="5532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C7A6B"/>
                </a:solidFill>
                <a:latin typeface="Inter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4427" y="5486400"/>
            <a:ext cx="1554480" cy="365760"/>
          </a:xfrm>
          <a:prstGeom prst="roundRect">
            <a:avLst/>
          </a:prstGeom>
          <a:solidFill>
            <a:srgbClr val="C45A3C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8907" y="5532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C7A6B"/>
                </a:solidFill>
                <a:latin typeface="Inter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56067" y="5486400"/>
            <a:ext cx="1554480" cy="365760"/>
          </a:xfrm>
          <a:prstGeom prst="roundRect">
            <a:avLst/>
          </a:prstGeom>
          <a:solidFill>
            <a:srgbClr val="C45A3C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SERVE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0547" y="55321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C7A6B"/>
                </a:solidFill>
                <a:latin typeface="Inter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47707" y="5486400"/>
            <a:ext cx="15544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3D2B1F"/>
                </a:solidFill>
                <a:latin typeface="Inter"/>
              </a:rPr>
              <a:t>EXPLORE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9436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C7A6B"/>
                </a:solidFill>
                <a:latin typeface="Inter"/>
              </a:rPr>
              <a:t>TECH STACK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0" y="5943600"/>
            <a:ext cx="1005840" cy="256032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3D2B1F"/>
                </a:solidFill>
                <a:latin typeface="Inter"/>
              </a:rPr>
              <a:t>Next.js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5943600"/>
            <a:ext cx="1005840" cy="256032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3D2B1F"/>
                </a:solidFill>
                <a:latin typeface="Inter"/>
              </a:rPr>
              <a:t>React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3360" y="5943600"/>
            <a:ext cx="1005840" cy="256032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3D2B1F"/>
                </a:solidFill>
                <a:latin typeface="Inter"/>
              </a:rPr>
              <a:t>TypeScript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0" y="5943600"/>
            <a:ext cx="1005840" cy="256032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3D2B1F"/>
                </a:solidFill>
                <a:latin typeface="Inter"/>
              </a:rPr>
              <a:t>Tailwind CSS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943600"/>
            <a:ext cx="1005840" cy="256032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3D2B1F"/>
                </a:solidFill>
                <a:latin typeface="Inter"/>
              </a:rPr>
              <a:t>Express.js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0" y="5943600"/>
            <a:ext cx="1005840" cy="256032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3D2B1F"/>
                </a:solidFill>
                <a:latin typeface="Inter"/>
              </a:rPr>
              <a:t>Node.js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12480" y="5943600"/>
            <a:ext cx="1005840" cy="256032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3D2B1F"/>
                </a:solidFill>
                <a:latin typeface="Inter"/>
              </a:rPr>
              <a:t>Neon PostgreSQL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60" y="5943600"/>
            <a:ext cx="1005840" cy="256032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3D2B1F"/>
                </a:solidFill>
                <a:latin typeface="Inter"/>
              </a:rPr>
              <a:t>Leaflet.js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07040" y="5943600"/>
            <a:ext cx="1005840" cy="256032"/>
          </a:xfrm>
          <a:prstGeom prst="roundRect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0">
                <a:solidFill>
                  <a:srgbClr val="3D2B1F"/>
                </a:solidFill>
                <a:latin typeface="Inter"/>
              </a:rPr>
              <a:t>OpenStreetMap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7A6B"/>
                </a:solidFill>
                <a:latin typeface="Inter"/>
              </a:rPr>
              <a:t>2 / 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ASTROVA  ·  Smart India Hackathon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D2B1F"/>
                </a:solidFill>
                <a:latin typeface="Playfair Display"/>
              </a:rPr>
              <a:t>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7A6B"/>
                </a:solidFill>
                <a:latin typeface="Inter"/>
              </a:rPr>
              <a:t>Built with proven technologies today. Designed to grow tomorrow.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120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5120640" cy="411480"/>
          </a:xfrm>
          <a:prstGeom prst="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075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FEASIBLE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C7A5A"/>
                </a:solidFill>
                <a:latin typeface="Inter"/>
              </a:rPr>
              <a:t>✓  Open Technologies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Next.js, React, TypeScript, Express.js, PostgreSQL — mature, well-documented, free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C7A5A"/>
                </a:solidFill>
                <a:latin typeface="Inter"/>
              </a:rPr>
              <a:t>✓  Public Data Sources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Indian Culture, Incredible India, UNESCO, National Archives — credible, accessible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C7A5A"/>
                </a:solidFill>
                <a:latin typeface="Inter"/>
              </a:rPr>
              <a:t>✓  Working Prototype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Full-stack heritage platform with 74 entities, 54 locations, 72 media records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C7A5A"/>
                </a:solidFill>
                <a:latin typeface="Inter"/>
              </a:rPr>
              <a:t>✓  Modular Architecture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Layered system — each module independently extensible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5C7A5A"/>
                </a:solidFill>
                <a:latin typeface="Inter"/>
              </a:rPr>
              <a:t>✓  Reasonable Deployment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Neon PostgreSQL (serverless), Vercel/Node hosting — low maintenance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5120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5120640" cy="411480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075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Inter"/>
              </a:rPr>
              <a:t>VIABLE TOMORROW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45A3C"/>
                </a:solidFill>
                <a:latin typeface="Inter"/>
              </a:rPr>
              <a:t>→  More Heritage Data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Scale from 74 to thousands of heritage entities across India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45A3C"/>
                </a:solidFill>
                <a:latin typeface="Inter"/>
              </a:rPr>
              <a:t>→  More Indian Languages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Expand from current multilingual support to all 22 scheduled languages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45A3C"/>
                </a:solidFill>
                <a:latin typeface="Inter"/>
              </a:rPr>
              <a:t>→  Education Use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Curriculum-aligned heritage modules for schools and universities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45A3C"/>
                </a:solidFill>
                <a:latin typeface="Inter"/>
              </a:rPr>
              <a:t>→  Tourism Integration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Travel planning, nearby heritage discovery, guided exploration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C45A3C"/>
                </a:solidFill>
                <a:latin typeface="Inter"/>
              </a:rPr>
              <a:t>→  Research &amp; Institutions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C7A6B"/>
                </a:solidFill>
                <a:latin typeface="Inter"/>
              </a:rPr>
              <a:t>     Academic collaboration, data APIs, cultural research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2B1F"/>
                </a:solidFill>
                <a:latin typeface="Inter"/>
              </a:rPr>
              <a:t>RISK MITIGATION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97679"/>
            <a:ext cx="10789920" cy="1463040"/>
          </a:xfrm>
          <a:prstGeom prst="roundRect">
            <a:avLst/>
          </a:prstGeom>
          <a:solidFill>
            <a:srgbClr val="FDF8F2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433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3B2A"/>
                </a:solidFill>
                <a:latin typeface="Inter"/>
              </a:rPr>
              <a:t>DATA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7199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2B1F"/>
                </a:solidFill>
                <a:latin typeface="Inter"/>
              </a:rPr>
              <a:t>Trusted sources + verification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3433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3B2A"/>
                </a:solidFill>
                <a:latin typeface="Inter"/>
              </a:rPr>
              <a:t>DIVERSE HERITAGE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57199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7548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2B1F"/>
                </a:solidFill>
                <a:latin typeface="Inter"/>
              </a:rPr>
              <a:t>Structured schema, modular data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3433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3B2A"/>
                </a:solidFill>
                <a:latin typeface="Inter"/>
              </a:rPr>
              <a:t>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57199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7548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2B1F"/>
                </a:solidFill>
                <a:latin typeface="Inter"/>
              </a:rPr>
              <a:t>Pagination, optimized queries, serverless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3433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3B2A"/>
                </a:solidFill>
                <a:latin typeface="Inter"/>
              </a:rPr>
              <a:t>AI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57199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7548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2B1F"/>
                </a:solidFill>
                <a:latin typeface="Inter"/>
              </a:rPr>
              <a:t>Source-grounded knowledge, human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34339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3B2A"/>
                </a:solidFill>
                <a:latin typeface="Inter"/>
              </a:rPr>
              <a:t>SECURITY &amp; MAINTENANCE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57199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7A6B"/>
                </a:solidFill>
                <a:latin typeface="Inter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754879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2B1F"/>
                </a:solidFill>
                <a:latin typeface="Inter"/>
              </a:rPr>
              <a:t>JWT auth, RBAC, rate limiting, monitoring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5760720"/>
            <a:ext cx="7589520" cy="502920"/>
          </a:xfrm>
          <a:prstGeom prst="round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AF5EE"/>
                </a:solidFill>
                <a:latin typeface="Playfair Display"/>
              </a:rPr>
              <a:t>Feasible to build today.  Viable to grow tomorrow.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7A6B"/>
                </a:solidFill>
                <a:latin typeface="Inter"/>
              </a:rPr>
              <a:t>3 /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ASTROVA  ·  Smart India Hackathon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D2B1F"/>
                </a:solidFill>
                <a:latin typeface="Playfair Display"/>
              </a:rP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7A6B"/>
                </a:solidFill>
                <a:latin typeface="Inter"/>
              </a:rPr>
              <a:t>Who benefits from Astrova — and why it matters.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1463040"/>
            <a:ext cx="1463040" cy="1463040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Playfair Display"/>
              </a:rPr>
              <a:t>ASTROVA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685800"/>
            <a:ext cx="1280160" cy="347472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STUDENTS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783080"/>
            <a:ext cx="1280160" cy="347472"/>
          </a:xfrm>
          <a:prstGeom prst="round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RESEARCHERS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399" y="1783080"/>
            <a:ext cx="1280160" cy="347472"/>
          </a:xfrm>
          <a:prstGeom prst="round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TOURISTS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291840"/>
            <a:ext cx="1280160" cy="347472"/>
          </a:xfrm>
          <a:prstGeom prst="round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COMMUNITIES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069080"/>
            <a:ext cx="1280160" cy="347472"/>
          </a:xfrm>
          <a:prstGeom prst="roundRect">
            <a:avLst/>
          </a:prstGeom>
          <a:solidFill>
            <a:srgbClr val="8C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INSTITUTIONS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A3C"/>
                </a:solidFill>
                <a:latin typeface="Inter"/>
              </a:rPr>
              <a:t>IMPACT DIMENSIONS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1572768"/>
            <a:ext cx="109728" cy="109728"/>
          </a:xfrm>
          <a:prstGeom prst="ellipse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361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C7A5A"/>
                </a:solidFill>
                <a:latin typeface="Inter"/>
              </a:rPr>
              <a:t>EDUCATIONAL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71907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Interactive learning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Maps &amp; timelines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Contextual stories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487168"/>
            <a:ext cx="109728" cy="109728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505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96E"/>
                </a:solidFill>
                <a:latin typeface="Inter"/>
              </a:rPr>
              <a:t>CULTURAL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3347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Awareness building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Visibility for traditions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Lesser-known heritage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401568"/>
            <a:ext cx="109728" cy="109728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649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45A3C"/>
                </a:solidFill>
                <a:latin typeface="Inter"/>
              </a:rPr>
              <a:t>TOURISM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4787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Discover heritage sites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Historical context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Nearby exploration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315968"/>
            <a:ext cx="109728" cy="109728"/>
          </a:xfrm>
          <a:prstGeom prst="ellipse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793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2B1F"/>
                </a:solidFill>
                <a:latin typeface="Inter"/>
              </a:rPr>
              <a:t>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6227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Local traditions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Crafts &amp; arts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Cultural contributions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230368"/>
            <a:ext cx="109728" cy="109728"/>
          </a:xfrm>
          <a:prstGeom prst="ellipse">
            <a:avLst/>
          </a:prstGeom>
          <a:solidFill>
            <a:srgbClr val="8C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C7A6B"/>
                </a:solidFill>
                <a:latin typeface="Inter"/>
              </a:rPr>
              <a:t>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7667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Connected knowledge base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Structured heritage data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8C7A6B"/>
                </a:solidFill>
                <a:latin typeface="Inter"/>
              </a:rPr>
              <a:t>• Accessible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12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2B1F"/>
                </a:solidFill>
                <a:latin typeface="Inter"/>
              </a:rPr>
              <a:t>5 KEY BENEFITS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48640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5577840"/>
            <a:ext cx="256032" cy="256032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778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2B1F"/>
                </a:solidFill>
                <a:latin typeface="Inter"/>
              </a:rPr>
              <a:t>Easy Discovery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806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C7A6B"/>
                </a:solidFill>
                <a:latin typeface="Inter"/>
              </a:rPr>
              <a:t>Search, filter, explore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52928" y="548640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44368" y="5577840"/>
            <a:ext cx="256032" cy="256032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4408" y="55778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2B1F"/>
                </a:solidFill>
                <a:latin typeface="Inter"/>
              </a:rPr>
              <a:t>Connected Knowledge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408" y="5806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C7A6B"/>
                </a:solidFill>
                <a:latin typeface="Inter"/>
              </a:rPr>
              <a:t>Relationships between heritage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0056" y="548640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1496" y="5577840"/>
            <a:ext cx="256032" cy="256032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31536" y="55778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2B1F"/>
                </a:solidFill>
                <a:latin typeface="Inter"/>
              </a:rPr>
              <a:t>Geographic Exploration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1536" y="5806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C7A6B"/>
                </a:solidFill>
                <a:latin typeface="Inter"/>
              </a:rPr>
              <a:t>Interactive map experience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87184" y="548640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78624" y="5577840"/>
            <a:ext cx="256032" cy="256032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98664" y="55778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2B1F"/>
                </a:solidFill>
                <a:latin typeface="Inter"/>
              </a:rPr>
              <a:t>Personalized Experience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98664" y="5806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C7A6B"/>
                </a:solidFill>
                <a:latin typeface="Inter"/>
              </a:rPr>
              <a:t>Favorites &amp; collections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54312" y="5486400"/>
            <a:ext cx="2057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45752" y="5577840"/>
            <a:ext cx="256032" cy="256032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92" y="55778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2B1F"/>
                </a:solidFill>
                <a:latin typeface="Inter"/>
              </a:rPr>
              <a:t>Reliable Information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5792" y="5806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C7A6B"/>
                </a:solidFill>
                <a:latin typeface="Inter"/>
              </a:rPr>
              <a:t>Source-aware, verified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7A6B"/>
                </a:solidFill>
                <a:latin typeface="Inter"/>
              </a:rPr>
              <a:t>4 /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ASTROVA  ·  Smart India Hackathon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D2B1F"/>
                </a:solidFill>
                <a:latin typeface="Playfair Display"/>
              </a:rPr>
              <a:t>Research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7A6B"/>
                </a:solidFill>
                <a:latin typeface="Inter"/>
              </a:rPr>
              <a:t>Astrova is grounded in credible research and official Indian heritage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5A3C"/>
                </a:solidFill>
                <a:latin typeface="Inter"/>
              </a:rPr>
              <a:t>RESEARCH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664208"/>
            <a:ext cx="201168" cy="201168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459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2B1F"/>
                </a:solidFill>
                <a:latin typeface="Inter"/>
              </a:rPr>
              <a:t>Heritage Fragmentation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47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C7A6B"/>
                </a:solidFill>
                <a:latin typeface="Inter"/>
              </a:rPr>
              <a:t>Heritage information is distributed across multiple government sources, wikis, and unstructured databases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691640"/>
            <a:ext cx="914400" cy="201168"/>
          </a:xfrm>
          <a:prstGeom prst="roundRect">
            <a:avLst/>
          </a:prstGeom>
          <a:solidFill>
            <a:srgbClr val="FDF8F2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>
                <a:solidFill>
                  <a:srgbClr val="C45A3C"/>
                </a:solidFill>
                <a:latin typeface="Inter"/>
              </a:rPr>
              <a:t>Motivates unified platform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322576"/>
            <a:ext cx="201168" cy="201168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2257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042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2B1F"/>
                </a:solidFill>
                <a:latin typeface="Inter"/>
              </a:rPr>
              <a:t>Structured Systems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0545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C7A6B"/>
                </a:solidFill>
                <a:latin typeface="Inter"/>
              </a:rPr>
              <a:t>There is a recognized need for structured cultural heritage information systems that connect related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350008"/>
            <a:ext cx="914400" cy="201168"/>
          </a:xfrm>
          <a:prstGeom prst="roundRect">
            <a:avLst/>
          </a:prstGeom>
          <a:solidFill>
            <a:srgbClr val="FDF8F2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>
                <a:solidFill>
                  <a:srgbClr val="C45A3C"/>
                </a:solidFill>
                <a:latin typeface="Inter"/>
              </a:rPr>
              <a:t>Drives Astrova's data model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980944"/>
            <a:ext cx="201168" cy="201168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8094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9626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2B1F"/>
                </a:solidFill>
                <a:latin typeface="Inter"/>
              </a:rPr>
              <a:t>GIS for Heritage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16382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C7A6B"/>
                </a:solidFill>
                <a:latin typeface="Inter"/>
              </a:rPr>
              <a:t>Geographic Information Systems support cultural heritage exploration by linking places to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3008376"/>
            <a:ext cx="914400" cy="201168"/>
          </a:xfrm>
          <a:prstGeom prst="roundRect">
            <a:avLst/>
          </a:prstGeom>
          <a:solidFill>
            <a:srgbClr val="FDF8F2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>
                <a:solidFill>
                  <a:srgbClr val="C45A3C"/>
                </a:solidFill>
                <a:latin typeface="Inter"/>
              </a:rPr>
              <a:t>Powers map discovery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639312"/>
            <a:ext cx="201168" cy="201168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39312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6210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2B1F"/>
                </a:solidFill>
                <a:latin typeface="Inter"/>
              </a:rPr>
              <a:t>Digital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221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C7A6B"/>
                </a:solidFill>
                <a:latin typeface="Inter"/>
              </a:rPr>
              <a:t>Digital platforms can significantly improve heritage discovery and tourism engagement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3666744"/>
            <a:ext cx="914400" cy="201168"/>
          </a:xfrm>
          <a:prstGeom prst="roundRect">
            <a:avLst/>
          </a:prstGeom>
          <a:solidFill>
            <a:srgbClr val="FDF8F2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>
                <a:solidFill>
                  <a:srgbClr val="C45A3C"/>
                </a:solidFill>
                <a:latin typeface="Inter"/>
              </a:rPr>
              <a:t>Validates web-first approach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297680"/>
            <a:ext cx="201168" cy="201168"/>
          </a:xfrm>
          <a:prstGeom prst="ellipse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9768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2793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2B1F"/>
                </a:solidFill>
                <a:latin typeface="Inter"/>
              </a:rPr>
              <a:t>Multilingual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4805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C7A6B"/>
                </a:solidFill>
                <a:latin typeface="Inter"/>
              </a:rPr>
              <a:t>Multilingual and connected digital access can improve accessibility for diverse populations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4325112"/>
            <a:ext cx="914400" cy="201168"/>
          </a:xfrm>
          <a:prstGeom prst="roundRect">
            <a:avLst/>
          </a:prstGeom>
          <a:solidFill>
            <a:srgbClr val="FDF8F2"/>
          </a:solidFill>
          <a:ln w="1270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>
                <a:solidFill>
                  <a:srgbClr val="C45A3C"/>
                </a:solidFill>
                <a:latin typeface="Inter"/>
              </a:rPr>
              <a:t>Drives language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1234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5A3C"/>
                </a:solidFill>
                <a:latin typeface="Inter"/>
              </a:rPr>
              <a:t>OFFICIAL REFERENCES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600200"/>
            <a:ext cx="5212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600200"/>
            <a:ext cx="54864" cy="822960"/>
          </a:xfrm>
          <a:prstGeom prst="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16916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2B1F"/>
                </a:solidFill>
                <a:latin typeface="Inter"/>
              </a:rPr>
              <a:t>Indian Culture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1920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Ministry of Culture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45A3C"/>
                </a:solidFill>
                <a:latin typeface="Inter"/>
              </a:rPr>
              <a:t>indianculture.gov.in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2560320"/>
            <a:ext cx="5212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2560320"/>
            <a:ext cx="54864" cy="822960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26517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5A3C"/>
                </a:solidFill>
                <a:latin typeface="Inter"/>
              </a:rPr>
              <a:t>Incredible India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Ministry of Tourism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3063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45A3C"/>
                </a:solidFill>
                <a:latin typeface="Inter"/>
              </a:rPr>
              <a:t>incredibleindia.gov.in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520440"/>
            <a:ext cx="5212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520440"/>
            <a:ext cx="54864" cy="8229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611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96E"/>
                </a:solidFill>
                <a:latin typeface="Inter"/>
              </a:rPr>
              <a:t>UNESCO ICH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840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Intangible Cultural Heritage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0233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45A3C"/>
                </a:solidFill>
                <a:latin typeface="Inter"/>
              </a:rPr>
              <a:t>ich.unesco.org/en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480560"/>
            <a:ext cx="52120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480560"/>
            <a:ext cx="54864" cy="822960"/>
          </a:xfrm>
          <a:prstGeom prst="rect">
            <a:avLst/>
          </a:prstGeom>
          <a:solidFill>
            <a:srgbClr val="5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5720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7A5A"/>
                </a:solidFill>
                <a:latin typeface="Inter"/>
              </a:rPr>
              <a:t>National Archives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8006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Government of India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9834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45A3C"/>
                </a:solidFill>
                <a:latin typeface="Inter"/>
              </a:rPr>
              <a:t>nationalarchives.nic.in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120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D2B1F"/>
                </a:solidFill>
                <a:latin typeface="Inter"/>
              </a:rPr>
              <a:t>CURRENT DATABASE STATISTICS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53949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45A3C"/>
                </a:solidFill>
                <a:latin typeface="Playfair Display"/>
              </a:rPr>
              <a:t>74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8338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7A6B"/>
                </a:solidFill>
                <a:latin typeface="Inter"/>
              </a:rPr>
              <a:t>Heritage Entities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68880" y="53949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6888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45A3C"/>
                </a:solidFill>
                <a:latin typeface="Playfair Display"/>
              </a:rPr>
              <a:t>54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68880" y="58338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7A6B"/>
                </a:solidFill>
                <a:latin typeface="Inter"/>
              </a:rPr>
              <a:t>Locations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51960" y="53949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5196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45A3C"/>
                </a:solidFill>
                <a:latin typeface="Playfair Display"/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51960" y="58338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7A6B"/>
                </a:solidFill>
                <a:latin typeface="Inter"/>
              </a:rPr>
              <a:t>Historical Periods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35040" y="53949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3504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45A3C"/>
                </a:solidFill>
                <a:latin typeface="Playfair Display"/>
              </a:rPr>
              <a:t>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58338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7A6B"/>
                </a:solidFill>
                <a:latin typeface="Inter"/>
              </a:rPr>
              <a:t>Media Records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818120" y="53949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1812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45A3C"/>
                </a:solidFill>
                <a:latin typeface="Playfair Display"/>
              </a:rPr>
              <a:t>49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18120" y="58338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7A6B"/>
                </a:solidFill>
                <a:latin typeface="Inter"/>
              </a:rPr>
              <a:t>Heritage Relationships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1200" y="5394960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C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0" y="5440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45A3C"/>
                </a:solidFill>
                <a:latin typeface="Playfair Display"/>
              </a:rP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58338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7A6B"/>
                </a:solidFill>
                <a:latin typeface="Inter"/>
              </a:rPr>
              <a:t>Supported States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7A6B"/>
                </a:solidFill>
                <a:latin typeface="Inter"/>
              </a:rPr>
              <a:t>5 / 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ASTROVA  ·  Smart India Hackathon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D2B1F"/>
                </a:solidFill>
                <a:latin typeface="Playfair Display"/>
              </a:rPr>
              <a:t>Working Prototype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C7A6B"/>
                </a:solidFill>
                <a:latin typeface="Inter"/>
              </a:rPr>
              <a:t>A working, database-connected heritage platform — and a clear path forward.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029200" cy="3200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4754880" cy="2743200"/>
          </a:xfrm>
          <a:prstGeom prst="roundRect">
            <a:avLst/>
          </a:prstGeom>
          <a:solidFill>
            <a:srgbClr val="FAF5EE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strova Home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75488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4389120"/>
            <a:ext cx="5577840" cy="182880"/>
          </a:xfrm>
          <a:prstGeom prst="round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27248" y="4434840"/>
            <a:ext cx="146304" cy="73152"/>
          </a:xfrm>
          <a:prstGeom prst="ellipse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234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C7A5A"/>
                </a:solidFill>
                <a:latin typeface="Inter"/>
              </a:rPr>
              <a:t>IMPLEMENTED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08760"/>
            <a:ext cx="3200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544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D2B1F"/>
                </a:solidFill>
                <a:latin typeface="Inter"/>
              </a:rPr>
              <a:t>✓  Heritage discovery &amp; details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D2B1F"/>
                </a:solidFill>
                <a:latin typeface="Inter"/>
              </a:rPr>
              <a:t>✓  Search &amp; filtering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D2B1F"/>
                </a:solidFill>
                <a:latin typeface="Inter"/>
              </a:rPr>
              <a:t>✓  Interactive map (Leaflet + OSM)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D2B1F"/>
                </a:solidFill>
                <a:latin typeface="Inter"/>
              </a:rPr>
              <a:t>✓  Connected heritage relationships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D2B1F"/>
                </a:solidFill>
                <a:latin typeface="Inter"/>
              </a:rPr>
              <a:t>✓  Media &amp; source management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D2B1F"/>
                </a:solidFill>
                <a:latin typeface="Inter"/>
              </a:rPr>
              <a:t>✓  Collections &amp; favorites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D2B1F"/>
                </a:solidFill>
                <a:latin typeface="Inter"/>
              </a:rPr>
              <a:t>✓  Historical timeline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D2B1F"/>
                </a:solidFill>
                <a:latin typeface="Inter"/>
              </a:rPr>
              <a:t>✓  Admin content portal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3D2B1F"/>
                </a:solidFill>
                <a:latin typeface="Inter"/>
              </a:rPr>
              <a:t>✓  Secure JWT 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023360"/>
            <a:ext cx="3200400" cy="411480"/>
          </a:xfrm>
          <a:prstGeom prst="round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AI / CHATBOT  ·  UNDER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5A3C"/>
                </a:solidFill>
                <a:latin typeface="Inter"/>
              </a:rPr>
              <a:t>FUTURE ROADMAP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2064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66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45A3C"/>
                </a:solidFill>
                <a:latin typeface="Playfair Display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864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D2B1F"/>
                </a:solidFill>
                <a:latin typeface="Inter"/>
              </a:rPr>
              <a:t>Expand data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12848" y="512064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5166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96E"/>
                </a:solidFill>
                <a:latin typeface="Playfair Display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54864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D2B1F"/>
                </a:solidFill>
                <a:latin typeface="Inter"/>
              </a:rPr>
              <a:t>More Indian languages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39896" y="512064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9896" y="5166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7A5A"/>
                </a:solidFill>
                <a:latin typeface="Playfair Display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9896" y="54864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D2B1F"/>
                </a:solidFill>
                <a:latin typeface="Inter"/>
              </a:rPr>
              <a:t>Community contributions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66944" y="512064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2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6944" y="5166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D2B1F"/>
                </a:solidFill>
                <a:latin typeface="Playfair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54864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D2B1F"/>
                </a:solidFill>
                <a:latin typeface="Inter"/>
              </a:rPr>
              <a:t>Mobile 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93992" y="512064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5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5166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45A3C"/>
                </a:solidFill>
                <a:latin typeface="Playfair Display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54864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D2B1F"/>
                </a:solidFill>
                <a:latin typeface="Inter"/>
              </a:rPr>
              <a:t>Educational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512064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5166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9A96E"/>
                </a:solidFill>
                <a:latin typeface="Playfair Display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4864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D2B1F"/>
                </a:solidFill>
                <a:latin typeface="Inter"/>
              </a:rPr>
              <a:t>Advanced AI experiences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48088" y="512064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48088" y="5166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7A5A"/>
                </a:solidFill>
                <a:latin typeface="Playfair Display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088" y="54864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D2B1F"/>
                </a:solidFill>
                <a:latin typeface="Inter"/>
              </a:rPr>
              <a:t>Global outreach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6126480"/>
            <a:ext cx="7589520" cy="502920"/>
          </a:xfrm>
          <a:prstGeom prst="roundRect">
            <a:avLst/>
          </a:prstGeom>
          <a:solidFill>
            <a:srgbClr val="3D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C9A96E"/>
                </a:solidFill>
                <a:latin typeface="Playfair Display"/>
              </a:rPr>
              <a:t>Preserve today.  Inspire tomorrow.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C4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7A6B"/>
                </a:solidFill>
                <a:latin typeface="Inter"/>
              </a:rPr>
              <a:t>6 /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7A6B"/>
                </a:solidFill>
                <a:latin typeface="Inter"/>
              </a:rPr>
              <a:t>ASTROVA  ·  Smart India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